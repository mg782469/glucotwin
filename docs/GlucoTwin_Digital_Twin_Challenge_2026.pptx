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75320" y="914400"/>
            <a:ext cx="2971800" cy="2971800"/>
          </a:xfrm>
          <a:prstGeom prst="ellipse">
            <a:avLst/>
          </a:prstGeom>
          <a:noFill/>
          <a:ln w="29209"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23960" y="1463040"/>
            <a:ext cx="1874519" cy="1874519"/>
          </a:xfrm>
          <a:prstGeom prst="ellipse">
            <a:avLst/>
          </a:prstGeom>
          <a:noFill/>
          <a:ln w="29209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89720" y="1828800"/>
            <a:ext cx="1143000" cy="1143000"/>
          </a:xfrm>
          <a:prstGeom prst="ellipse">
            <a:avLst/>
          </a:prstGeom>
          <a:noFill/>
          <a:ln w="29209">
            <a:solidFill>
              <a:srgbClr val="79E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58368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1B9E94"/>
          </a:solidFill>
          <a:ln>
            <a:solidFill>
              <a:srgbClr val="1B9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722376"/>
            <a:ext cx="11704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5F7FA"/>
                </a:solidFill>
                <a:latin typeface="Aptos"/>
              </a:rPr>
              <a:t>CHALLENGE PIVOT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68580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5F7FA"/>
                </a:solidFill>
                <a:latin typeface="Aptos Display"/>
              </a:rPr>
              <a:t>GlucoTwin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40080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36D6C5"/>
                </a:solidFill>
                <a:latin typeface="Aptos"/>
              </a:rPr>
              <a:t>A patient-specific digital twin for
short-horizon glucose-excursion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30752"/>
            <a:ext cx="62179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B8C5D4"/>
                </a:solidFill>
                <a:latin typeface="Aptos"/>
              </a:rPr>
              <a:t>Static clinical context + live-like CGM trajectory → updated patient state → 60-minute forecast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4782312"/>
            <a:ext cx="5833872" cy="0"/>
          </a:xfrm>
          <a:prstGeom prst="line">
            <a:avLst/>
          </a:prstGeom>
          <a:ln w="1905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5074920"/>
            <a:ext cx="62179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Aptos"/>
              </a:rPr>
              <a:t>Digital Twin Challenge 2026  |  Happiest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468112"/>
            <a:ext cx="667512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B454"/>
                </a:solidFill>
                <a:latin typeface="Aptos"/>
              </a:rPr>
              <a:t>Prepared from supplied Matri-Kavach files + public research.
Model metrics are intentionally not claimed until reproduced.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029200"/>
            <a:ext cx="3154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/>
              <a:t>TEAM: Manas Girdhar (Team Leader) — BIT Mesra</a:t>
            </a:r>
          </a:p>
          <a:p>
            <a:r>
              <a:rPr sz="1000"/>
              <a:t>TEAM MEMBER: Moulvi Gufran — GMC Vizianagaram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01/16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01 / CHALLENGE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The key change: keep the engineering discipline, pivot the clinical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5D4"/>
                </a:solidFill>
                <a:latin typeface="Aptos"/>
              </a:rPr>
              <a:t>Matri-Kavach is valuable work—but its current use case does not satisfy this event’s Digital Twin definition.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91640"/>
            <a:ext cx="5257800" cy="31546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91640"/>
            <a:ext cx="64008" cy="315468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56232"/>
            <a:ext cx="48920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5F7FA"/>
                </a:solidFill>
                <a:latin typeface="Aptos"/>
              </a:rPr>
              <a:t>Current Matri-Kavach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95144"/>
            <a:ext cx="4937760" cy="2441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B8C5D4"/>
                </a:solidFill>
                <a:latin typeface="Aptos"/>
              </a:defRPr>
            </a:pPr>
            <a:r>
              <a:rPr b="1" sz="1600">
                <a:solidFill>
                  <a:srgbClr val="FFB454"/>
                </a:solidFill>
              </a:rPr>
              <a:t>• </a:t>
            </a:r>
            <a:r>
              <a:rPr sz="1500">
                <a:solidFill>
                  <a:srgbClr val="B8C5D4"/>
                </a:solidFill>
                <a:latin typeface="Aptos"/>
              </a:rPr>
              <a:t>Maternal emergency referral coordination</a:t>
            </a:r>
          </a:p>
          <a:p>
            <a:pPr>
              <a:spcAft>
                <a:spcPts val="400"/>
              </a:spcAft>
              <a:defRPr sz="1500">
                <a:solidFill>
                  <a:srgbClr val="B8C5D4"/>
                </a:solidFill>
                <a:latin typeface="Aptos"/>
              </a:defRPr>
            </a:pPr>
            <a:r>
              <a:rPr b="1" sz="1600">
                <a:solidFill>
                  <a:srgbClr val="FFB454"/>
                </a:solidFill>
              </a:rPr>
              <a:t>• </a:t>
            </a:r>
            <a:r>
              <a:rPr sz="1500">
                <a:solidFill>
                  <a:srgbClr val="B8C5D4"/>
                </a:solidFill>
                <a:latin typeface="Aptos"/>
              </a:rPr>
              <a:t>Hospital readiness acknowledgements and handoff closure</a:t>
            </a:r>
          </a:p>
          <a:p>
            <a:pPr>
              <a:spcAft>
                <a:spcPts val="400"/>
              </a:spcAft>
              <a:defRPr sz="1500">
                <a:solidFill>
                  <a:srgbClr val="B8C5D4"/>
                </a:solidFill>
                <a:latin typeface="Aptos"/>
              </a:defRPr>
            </a:pPr>
            <a:r>
              <a:rPr b="1" sz="1600">
                <a:solidFill>
                  <a:srgbClr val="FFB454"/>
                </a:solidFill>
              </a:rPr>
              <a:t>• </a:t>
            </a:r>
            <a:r>
              <a:rPr sz="1500">
                <a:solidFill>
                  <a:srgbClr val="B8C5D4"/>
                </a:solidFill>
                <a:latin typeface="Aptos"/>
              </a:rPr>
              <a:t>No patient-specific longitudinal physiological state</a:t>
            </a:r>
          </a:p>
          <a:p>
            <a:pPr>
              <a:spcAft>
                <a:spcPts val="400"/>
              </a:spcAft>
              <a:defRPr sz="1500">
                <a:solidFill>
                  <a:srgbClr val="B8C5D4"/>
                </a:solidFill>
                <a:latin typeface="Aptos"/>
              </a:defRPr>
            </a:pPr>
            <a:r>
              <a:rPr b="1" sz="1600">
                <a:solidFill>
                  <a:srgbClr val="FFB454"/>
                </a:solidFill>
              </a:rPr>
              <a:t>• </a:t>
            </a:r>
            <a:r>
              <a:rPr sz="1500">
                <a:solidFill>
                  <a:srgbClr val="B8C5D4"/>
                </a:solidFill>
                <a:latin typeface="Aptos"/>
              </a:rPr>
              <a:t>No EHR + wearable fusion model predicting a future event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257800" cy="31546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64008" cy="3154680"/>
          </a:xfrm>
          <a:prstGeom prst="rect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856232"/>
            <a:ext cx="48920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5F7FA"/>
                </a:solidFill>
                <a:latin typeface="Aptos"/>
              </a:rPr>
              <a:t>Challenge-aligned GlucoTwin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95144"/>
            <a:ext cx="4937760" cy="2441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B8C5D4"/>
                </a:solidFill>
                <a:latin typeface="Aptos"/>
              </a:defRPr>
            </a:pPr>
            <a:r>
              <a:rPr b="1" sz="1600">
                <a:solidFill>
                  <a:srgbClr val="36D6C5"/>
                </a:solidFill>
              </a:rPr>
              <a:t>• </a:t>
            </a:r>
            <a:r>
              <a:rPr sz="1500">
                <a:solidFill>
                  <a:srgbClr val="B8C5D4"/>
                </a:solidFill>
                <a:latin typeface="Aptos"/>
              </a:rPr>
              <a:t>Type 2 diabetes: forecast a glucose excursion</a:t>
            </a:r>
          </a:p>
          <a:p>
            <a:pPr>
              <a:spcAft>
                <a:spcPts val="400"/>
              </a:spcAft>
              <a:defRPr sz="1500">
                <a:solidFill>
                  <a:srgbClr val="B8C5D4"/>
                </a:solidFill>
                <a:latin typeface="Aptos"/>
              </a:defRPr>
            </a:pPr>
            <a:r>
              <a:rPr b="1" sz="1600">
                <a:solidFill>
                  <a:srgbClr val="36D6C5"/>
                </a:solidFill>
              </a:rPr>
              <a:t>• </a:t>
            </a:r>
            <a:r>
              <a:rPr sz="1500">
                <a:solidFill>
                  <a:srgbClr val="B8C5D4"/>
                </a:solidFill>
                <a:latin typeface="Aptos"/>
              </a:rPr>
              <a:t>Matched clinical profile + CGM + meal/medication timeline</a:t>
            </a:r>
          </a:p>
          <a:p>
            <a:pPr>
              <a:spcAft>
                <a:spcPts val="400"/>
              </a:spcAft>
              <a:defRPr sz="1500">
                <a:solidFill>
                  <a:srgbClr val="B8C5D4"/>
                </a:solidFill>
                <a:latin typeface="Aptos"/>
              </a:defRPr>
            </a:pPr>
            <a:r>
              <a:rPr b="1" sz="1600">
                <a:solidFill>
                  <a:srgbClr val="36D6C5"/>
                </a:solidFill>
              </a:rPr>
              <a:t>• </a:t>
            </a:r>
            <a:r>
              <a:rPr sz="1500">
                <a:solidFill>
                  <a:srgbClr val="B8C5D4"/>
                </a:solidFill>
                <a:latin typeface="Aptos"/>
              </a:rPr>
              <a:t>Patient state updates when new sensor readings arrive</a:t>
            </a:r>
          </a:p>
          <a:p>
            <a:pPr>
              <a:spcAft>
                <a:spcPts val="400"/>
              </a:spcAft>
              <a:defRPr sz="1500">
                <a:solidFill>
                  <a:srgbClr val="B8C5D4"/>
                </a:solidFill>
                <a:latin typeface="Aptos"/>
              </a:defRPr>
            </a:pPr>
            <a:r>
              <a:rPr b="1" sz="1600">
                <a:solidFill>
                  <a:srgbClr val="36D6C5"/>
                </a:solidFill>
              </a:rPr>
              <a:t>• </a:t>
            </a:r>
            <a:r>
              <a:rPr sz="1500">
                <a:solidFill>
                  <a:srgbClr val="B8C5D4"/>
                </a:solidFill>
                <a:latin typeface="Aptos"/>
              </a:rPr>
              <a:t>Model output, uncertainty, data freshness and clinician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66360"/>
            <a:ext cx="10927080" cy="804672"/>
          </a:xfrm>
          <a:prstGeom prst="roundRect">
            <a:avLst>
              <a:gd name="adj" fmla="val 8000"/>
            </a:avLst>
          </a:prstGeom>
          <a:solidFill>
            <a:srgbClr val="17263B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330952"/>
            <a:ext cx="104698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Aptos"/>
              </a:rPr>
              <a:t>Decision: submit a separate GlucoTwin concept for this challenge. Keep Matri-Kavach as a separate maternal-health project.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02/16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02 / CLINICAL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One patient. One defined event. One testable forecast.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5D4"/>
                </a:solidFill>
                <a:latin typeface="Aptos"/>
              </a:rPr>
              <a:t>A short-horizon forecast is narrow enough to prototype—and specific enough to evaluate.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55778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6D6C5"/>
                </a:solidFill>
                <a:latin typeface="Aptos"/>
              </a:rPr>
              <a:t>TARGET 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93392"/>
            <a:ext cx="52120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5F7FA"/>
                </a:solidFill>
                <a:latin typeface="Aptos"/>
              </a:rPr>
              <a:t>Adults with Type 2 diabetes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70048"/>
            <a:ext cx="52120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8C5D4"/>
                </a:solidFill>
                <a:latin typeface="Aptos"/>
              </a:rPr>
              <a:t>Initial evidence cohort: ShanghaiT2DM research dataset (100 patients; Chinese clinical cohort).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57600"/>
            <a:ext cx="5577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6D6C5"/>
                </a:solidFill>
                <a:latin typeface="Aptos"/>
              </a:rPr>
              <a:t>PREDICTION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53949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5F7FA"/>
                </a:solidFill>
                <a:latin typeface="Aptos"/>
              </a:rPr>
              <a:t>Predict whether glucose will cross above 180 mg/dL in the next 60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138928"/>
            <a:ext cx="53949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Aptos"/>
              </a:rPr>
              <a:t>Threshold is a monitoring reference—not a diagnosis, emergency label, or treatment instruction.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5074920" cy="411480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6D6C5"/>
                </a:solidFill>
                <a:latin typeface="Aptos"/>
              </a:rPr>
              <a:t>FORECAST WINDOW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95160" y="3200400"/>
            <a:ext cx="3886200" cy="0"/>
          </a:xfrm>
          <a:prstGeom prst="line">
            <a:avLst/>
          </a:prstGeom>
          <a:ln w="27940">
            <a:solidFill>
              <a:srgbClr val="36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967728" y="3127248"/>
            <a:ext cx="146304" cy="146304"/>
          </a:xfrm>
          <a:prstGeom prst="ellipse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44728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B8C5D4"/>
                </a:solidFill>
                <a:latin typeface="Aptos"/>
              </a:rPr>
              <a:t>t − 60m</a:t>
            </a:r>
          </a:p>
        </p:txBody>
      </p:sp>
      <p:sp>
        <p:nvSpPr>
          <p:cNvPr id="16" name="Oval 15"/>
          <p:cNvSpPr/>
          <p:nvPr/>
        </p:nvSpPr>
        <p:spPr>
          <a:xfrm>
            <a:off x="7927848" y="3127248"/>
            <a:ext cx="146304" cy="146304"/>
          </a:xfrm>
          <a:prstGeom prst="ellipse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344728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B8C5D4"/>
                </a:solidFill>
                <a:latin typeface="Aptos"/>
              </a:rPr>
              <a:t>t − 30m</a:t>
            </a:r>
          </a:p>
        </p:txBody>
      </p:sp>
      <p:sp>
        <p:nvSpPr>
          <p:cNvPr id="18" name="Oval 17"/>
          <p:cNvSpPr/>
          <p:nvPr/>
        </p:nvSpPr>
        <p:spPr>
          <a:xfrm>
            <a:off x="8842248" y="3127248"/>
            <a:ext cx="146304" cy="146304"/>
          </a:xfrm>
          <a:prstGeom prst="ellipse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44728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B8C5D4"/>
                </a:solidFill>
                <a:latin typeface="Aptos"/>
              </a:rPr>
              <a:t>now</a:t>
            </a:r>
          </a:p>
        </p:txBody>
      </p:sp>
      <p:sp>
        <p:nvSpPr>
          <p:cNvPr id="20" name="Oval 19"/>
          <p:cNvSpPr/>
          <p:nvPr/>
        </p:nvSpPr>
        <p:spPr>
          <a:xfrm>
            <a:off x="9756648" y="3127248"/>
            <a:ext cx="146304" cy="146304"/>
          </a:xfrm>
          <a:prstGeom prst="ellipse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344728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B8C5D4"/>
                </a:solidFill>
                <a:latin typeface="Aptos"/>
              </a:rPr>
              <a:t>+30m</a:t>
            </a:r>
          </a:p>
        </p:txBody>
      </p:sp>
      <p:sp>
        <p:nvSpPr>
          <p:cNvPr id="22" name="Oval 21"/>
          <p:cNvSpPr/>
          <p:nvPr/>
        </p:nvSpPr>
        <p:spPr>
          <a:xfrm>
            <a:off x="10716768" y="3127248"/>
            <a:ext cx="146304" cy="146304"/>
          </a:xfrm>
          <a:prstGeom prst="ellipse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344728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B8C5D4"/>
                </a:solidFill>
                <a:latin typeface="Aptos"/>
              </a:rPr>
              <a:t>+60m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114800"/>
            <a:ext cx="43891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5F7FA"/>
                </a:solidFill>
                <a:latin typeface="Aptos"/>
              </a:rPr>
              <a:t>Input: last 4 hours of CGM + baseline clinical features + events recorded before now.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983480"/>
            <a:ext cx="4389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36D6C5"/>
                </a:solidFill>
                <a:latin typeface="Aptos"/>
              </a:rPr>
              <a:t>Output: calibrated event probability + freshness / uncertainty state.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03/16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03 / DIGITAL TWIN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A digital twin is an updating patient state—not just a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5D4"/>
                </a:solidFill>
                <a:latin typeface="Aptos"/>
              </a:rPr>
              <a:t>The virtual state is patient-specific, time-aware, and refreshed as new measurements arrive.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12848"/>
            <a:ext cx="1792224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6D6C5"/>
                </a:solidFill>
                <a:latin typeface="Aptos"/>
              </a:rPr>
              <a:t>01 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32887"/>
            <a:ext cx="1792224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Aptos"/>
              </a:rPr>
              <a:t>Clinical profile
labs • diagnoses • meds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10312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2212848"/>
            <a:ext cx="1792224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B454"/>
                </a:solidFill>
                <a:latin typeface="Aptos"/>
              </a:rPr>
              <a:t>02 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532887"/>
            <a:ext cx="1792224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Aptos"/>
              </a:rPr>
              <a:t>CGM every 15 min
meal / medication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10312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4688" y="2212848"/>
            <a:ext cx="1792224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6D6C5"/>
                </a:solidFill>
                <a:latin typeface="Aptos"/>
              </a:rPr>
              <a:t>03 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4688" y="2532887"/>
            <a:ext cx="1792224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Aptos"/>
              </a:rPr>
              <a:t>Recent trend + context
missingness + timestamp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103120"/>
            <a:ext cx="1645920" cy="10972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2212848"/>
            <a:ext cx="1426464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B454"/>
                </a:solidFill>
                <a:latin typeface="Aptos"/>
              </a:rPr>
              <a:t>04 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532887"/>
            <a:ext cx="1426464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Aptos"/>
              </a:rPr>
              <a:t>60-min event
forecast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103120"/>
            <a:ext cx="1737360" cy="10972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93807" y="2212848"/>
            <a:ext cx="1517904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6D6C5"/>
                </a:solidFill>
                <a:latin typeface="Aptos"/>
              </a:rPr>
              <a:t>05 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7" y="2532887"/>
            <a:ext cx="1517904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Aptos"/>
              </a:rPr>
              <a:t>Doctor-facing
explanation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97480" y="2651760"/>
            <a:ext cx="246888" cy="0"/>
          </a:xfrm>
          <a:prstGeom prst="line">
            <a:avLst/>
          </a:prstGeom>
          <a:ln w="22860">
            <a:solidFill>
              <a:srgbClr val="36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74920" y="2651760"/>
            <a:ext cx="246888" cy="0"/>
          </a:xfrm>
          <a:prstGeom prst="line">
            <a:avLst/>
          </a:prstGeom>
          <a:ln w="22860">
            <a:solidFill>
              <a:srgbClr val="36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52360" y="2651760"/>
            <a:ext cx="246888" cy="0"/>
          </a:xfrm>
          <a:prstGeom prst="line">
            <a:avLst/>
          </a:prstGeom>
          <a:ln w="22860">
            <a:solidFill>
              <a:srgbClr val="36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64040" y="2651760"/>
            <a:ext cx="246888" cy="0"/>
          </a:xfrm>
          <a:prstGeom prst="line">
            <a:avLst/>
          </a:prstGeom>
          <a:ln w="22860">
            <a:solidFill>
              <a:srgbClr val="36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07040" y="3383280"/>
            <a:ext cx="0" cy="777240"/>
          </a:xfrm>
          <a:prstGeom prst="line">
            <a:avLst/>
          </a:prstGeom>
          <a:ln w="20320">
            <a:solidFill>
              <a:srgbClr val="FFB4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645920" y="4160520"/>
            <a:ext cx="8961120" cy="0"/>
          </a:xfrm>
          <a:prstGeom prst="line">
            <a:avLst/>
          </a:prstGeom>
          <a:ln w="20320">
            <a:solidFill>
              <a:srgbClr val="FFB4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645920" y="3337560"/>
            <a:ext cx="0" cy="822960"/>
          </a:xfrm>
          <a:prstGeom prst="line">
            <a:avLst/>
          </a:prstGeom>
          <a:ln w="20320">
            <a:solidFill>
              <a:srgbClr val="FFB4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03320" y="4279392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B454"/>
                </a:solidFill>
                <a:latin typeface="Aptos"/>
              </a:rPr>
              <a:t>New CGM sample → validate → update state → forecast again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892040"/>
            <a:ext cx="3154680" cy="8686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4892040"/>
            <a:ext cx="64008" cy="868680"/>
          </a:xfrm>
          <a:prstGeom prst="rect">
            <a:avLst/>
          </a:prstGeom>
          <a:solidFill>
            <a:srgbClr val="7F92A8"/>
          </a:solidFill>
          <a:ln>
            <a:solidFill>
              <a:srgbClr val="7F9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5056631"/>
            <a:ext cx="2788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Aptos"/>
              </a:rPr>
              <a:t>Not a whole-body simulator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504688"/>
            <a:ext cx="2788920" cy="1554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5D4"/>
                </a:solidFill>
                <a:latin typeface="Aptos"/>
              </a:rPr>
              <a:t>A scoped proof of concept.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98848" y="4892040"/>
            <a:ext cx="3154680" cy="8686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98848" y="4892040"/>
            <a:ext cx="64008" cy="868680"/>
          </a:xfrm>
          <a:prstGeom prst="rect">
            <a:avLst/>
          </a:prstGeom>
          <a:solidFill>
            <a:srgbClr val="FF7272"/>
          </a:solidFill>
          <a:ln>
            <a:solidFill>
              <a:srgbClr val="FF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0016" y="5056631"/>
            <a:ext cx="2788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Aptos"/>
              </a:rPr>
              <a:t>No automatic treatment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0016" y="5504688"/>
            <a:ext cx="2788920" cy="1554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5D4"/>
                </a:solidFill>
                <a:latin typeface="Aptos"/>
              </a:rPr>
              <a:t>No insulin-dose or medication advice.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74152" y="4892040"/>
            <a:ext cx="3154680" cy="8686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4152" y="4892040"/>
            <a:ext cx="64008" cy="868680"/>
          </a:xfrm>
          <a:prstGeom prst="rect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5056631"/>
            <a:ext cx="2788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Aptos"/>
              </a:rPr>
              <a:t>Human review remains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504688"/>
            <a:ext cx="2788920" cy="1554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5D4"/>
                </a:solidFill>
                <a:latin typeface="Aptos"/>
              </a:rPr>
              <a:t>Forecast is informational only.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04/16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04 / DATA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Use real, matched records where possible—never fake a patient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5D4"/>
                </a:solidFill>
                <a:latin typeface="Aptos"/>
              </a:rPr>
              <a:t>Primary dataset selected for direct patient-ID linkage between clinical characteristics and CGM.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45920"/>
            <a:ext cx="5394960" cy="40690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45920"/>
            <a:ext cx="64008" cy="4069080"/>
          </a:xfrm>
          <a:prstGeom prst="rect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5029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7FA"/>
                </a:solidFill>
                <a:latin typeface="Aptos"/>
              </a:rPr>
              <a:t>PRIMARY: ShanghaiT2DM (CC BY 4.0)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49424"/>
            <a:ext cx="5074920" cy="33558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100 adults with Type 2 diabetes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112,475 CGM measurements; 15-minute sampling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3–14 days per recording period; 109 T2D files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Matched clinical/lab profile, medication history and dietary records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Public Figshare collection; cite the dataset paper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45920"/>
            <a:ext cx="5303520" cy="40690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645920"/>
            <a:ext cx="64008" cy="406908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810512"/>
            <a:ext cx="493775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7FA"/>
                </a:solidFill>
                <a:latin typeface="Aptos"/>
              </a:rPr>
              <a:t>SECONDARY: CGMacros (exploratory)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9424"/>
            <a:ext cx="4983480" cy="33558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45 participants: 14 T2D, 16 prediabetes, 15 controls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CGM + Fitbit heart rate / activity + meal macros + baseline labs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About 10 days; PhysioNet public dataset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Use only as an independent exploratory check—not merged patient identities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Small T2D subgroup limits conclusions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897880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B454"/>
                </a:solidFill>
                <a:latin typeface="Aptos"/>
              </a:rPr>
              <a:t>Limitations: Shanghai cohort is not an Indian cohort; no claim of Indian-population validation. CGM is the primary wearable/IoT stream.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05/16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05 / DATA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Exactly how the two streams become one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5D4"/>
                </a:solidFill>
                <a:latin typeface="Aptos"/>
              </a:rPr>
              <a:t>Fuse only data available at time t; keep future readings strictly in the label.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64208"/>
            <a:ext cx="3246120" cy="210312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64208"/>
            <a:ext cx="64008" cy="2103120"/>
          </a:xfrm>
          <a:prstGeom prst="rect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2880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Aptos"/>
              </a:rPr>
              <a:t>STATIC / HISTORICAL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67712"/>
            <a:ext cx="2926079" cy="13898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8C5D4"/>
                </a:solidFill>
                <a:latin typeface="Aptos"/>
              </a:defRPr>
            </a:pPr>
            <a:r>
              <a:rPr b="1" sz="1300">
                <a:solidFill>
                  <a:srgbClr val="36D6C5"/>
                </a:solidFill>
              </a:rPr>
              <a:t>• </a:t>
            </a:r>
            <a:r>
              <a:rPr sz="1200">
                <a:solidFill>
                  <a:srgbClr val="B8C5D4"/>
                </a:solidFill>
                <a:latin typeface="Aptos"/>
              </a:rPr>
              <a:t>Age, sex, BMI, duration</a:t>
            </a:r>
          </a:p>
          <a:p>
            <a:pPr>
              <a:spcAft>
                <a:spcPts val="400"/>
              </a:spcAft>
              <a:defRPr sz="1200">
                <a:solidFill>
                  <a:srgbClr val="B8C5D4"/>
                </a:solidFill>
                <a:latin typeface="Aptos"/>
              </a:defRPr>
            </a:pPr>
            <a:r>
              <a:rPr b="1" sz="1300">
                <a:solidFill>
                  <a:srgbClr val="36D6C5"/>
                </a:solidFill>
              </a:rPr>
              <a:t>• </a:t>
            </a:r>
            <a:r>
              <a:rPr sz="1200">
                <a:solidFill>
                  <a:srgbClr val="B8C5D4"/>
                </a:solidFill>
                <a:latin typeface="Aptos"/>
              </a:rPr>
              <a:t>HbA1c, fasting / post-meal labs</a:t>
            </a:r>
          </a:p>
          <a:p>
            <a:pPr>
              <a:spcAft>
                <a:spcPts val="400"/>
              </a:spcAft>
              <a:defRPr sz="1200">
                <a:solidFill>
                  <a:srgbClr val="B8C5D4"/>
                </a:solidFill>
                <a:latin typeface="Aptos"/>
              </a:defRPr>
            </a:pPr>
            <a:r>
              <a:rPr b="1" sz="1300">
                <a:solidFill>
                  <a:srgbClr val="36D6C5"/>
                </a:solidFill>
              </a:rPr>
              <a:t>• </a:t>
            </a:r>
            <a:r>
              <a:rPr sz="1200">
                <a:solidFill>
                  <a:srgbClr val="B8C5D4"/>
                </a:solidFill>
                <a:latin typeface="Aptos"/>
              </a:rPr>
              <a:t>Comorbidities, medications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005072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005072"/>
            <a:ext cx="64008" cy="164592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169663"/>
            <a:ext cx="2880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Aptos"/>
              </a:rPr>
              <a:t>DYNAMIC / TIME-SERIES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608576"/>
            <a:ext cx="2926079" cy="9326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8C5D4"/>
                </a:solidFill>
                <a:latin typeface="Aptos"/>
              </a:defRPr>
            </a:pPr>
            <a:r>
              <a:rPr b="1" sz="1300">
                <a:solidFill>
                  <a:srgbClr val="FFB454"/>
                </a:solidFill>
              </a:rPr>
              <a:t>• </a:t>
            </a:r>
            <a:r>
              <a:rPr sz="1200">
                <a:solidFill>
                  <a:srgbClr val="B8C5D4"/>
                </a:solidFill>
                <a:latin typeface="Aptos"/>
              </a:rPr>
              <a:t>Last 16 CGM values (4 h)</a:t>
            </a:r>
          </a:p>
          <a:p>
            <a:pPr>
              <a:spcAft>
                <a:spcPts val="400"/>
              </a:spcAft>
              <a:defRPr sz="1200">
                <a:solidFill>
                  <a:srgbClr val="B8C5D4"/>
                </a:solidFill>
                <a:latin typeface="Aptos"/>
              </a:defRPr>
            </a:pPr>
            <a:r>
              <a:rPr b="1" sz="1300">
                <a:solidFill>
                  <a:srgbClr val="FFB454"/>
                </a:solidFill>
              </a:rPr>
              <a:t>• </a:t>
            </a:r>
            <a:r>
              <a:rPr sz="1200">
                <a:solidFill>
                  <a:srgbClr val="B8C5D4"/>
                </a:solidFill>
                <a:latin typeface="Aptos"/>
              </a:rPr>
              <a:t>Slope, rolling mean / variability</a:t>
            </a:r>
          </a:p>
          <a:p>
            <a:pPr>
              <a:spcAft>
                <a:spcPts val="400"/>
              </a:spcAft>
              <a:defRPr sz="1200">
                <a:solidFill>
                  <a:srgbClr val="B8C5D4"/>
                </a:solidFill>
                <a:latin typeface="Aptos"/>
              </a:defRPr>
            </a:pPr>
            <a:r>
              <a:rPr b="1" sz="1300">
                <a:solidFill>
                  <a:srgbClr val="FFB454"/>
                </a:solidFill>
              </a:rPr>
              <a:t>• </a:t>
            </a:r>
            <a:r>
              <a:rPr sz="1200">
                <a:solidFill>
                  <a:srgbClr val="B8C5D4"/>
                </a:solidFill>
                <a:latin typeface="Aptos"/>
              </a:rPr>
              <a:t>Meal / medication events before 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60" y="2651760"/>
            <a:ext cx="777240" cy="640080"/>
          </a:xfrm>
          <a:prstGeom prst="line">
            <a:avLst/>
          </a:prstGeom>
          <a:ln w="25400">
            <a:solidFill>
              <a:srgbClr val="36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023360" y="3749039"/>
            <a:ext cx="777240" cy="960121"/>
          </a:xfrm>
          <a:prstGeom prst="line">
            <a:avLst/>
          </a:prstGeom>
          <a:ln w="25400">
            <a:solidFill>
              <a:srgbClr val="FFB4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46320" y="2743200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17263B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2971800"/>
            <a:ext cx="1737360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Aptos"/>
              </a:rPr>
              <a:t>Time align
+ validate
+ fuse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95160" y="3429000"/>
            <a:ext cx="822960" cy="0"/>
          </a:xfrm>
          <a:prstGeom prst="line">
            <a:avLst/>
          </a:prstGeom>
          <a:ln w="25400">
            <a:solidFill>
              <a:srgbClr val="36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882127" y="2487168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3" y="2706624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6D6C5"/>
                </a:solidFill>
                <a:latin typeface="Aptos"/>
              </a:rPr>
              <a:t>TARGET 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3108960"/>
            <a:ext cx="29718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Aptos"/>
              </a:rPr>
              <a:t>If current CGM ≤180 mg/dL:
any of next 4 readings &gt;180
within 60 minutes?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925312"/>
            <a:ext cx="10881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454"/>
                </a:solidFill>
                <a:latin typeface="Aptos"/>
              </a:rPr>
              <a:t>No cross-dataset patient matching. No future features. Preserve original 15-minute sampling; do not treat interpolated values as independent measurements.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06/16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06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Minimal architecture: reproducible before sophisticated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5D4"/>
                </a:solidFill>
                <a:latin typeface="Aptos"/>
              </a:rPr>
              <a:t>Start with CSV ingestion + a transparent baseline; add complexity only if it improves held-out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075688"/>
            <a:ext cx="181965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DATA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50008"/>
            <a:ext cx="1819656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7FA"/>
                </a:solidFill>
                <a:latin typeface="Aptos"/>
              </a:rPr>
              <a:t>ShanghaiT2DM CSVs
clinical + CGM +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96596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2075688"/>
            <a:ext cx="172821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B454"/>
                </a:solidFill>
                <a:latin typeface="Aptos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350008"/>
            <a:ext cx="1728216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7FA"/>
                </a:solidFill>
                <a:latin typeface="Aptos"/>
              </a:rPr>
              <a:t>schema • timestamps
missingness • ranges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9659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2075688"/>
            <a:ext cx="181965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STATE /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2350008"/>
            <a:ext cx="1819656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7FA"/>
                </a:solidFill>
                <a:latin typeface="Aptos"/>
              </a:rPr>
              <a:t>4 h rolling window
static + dynamic fusion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9659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2075688"/>
            <a:ext cx="1636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B454"/>
                </a:solidFill>
                <a:latin typeface="Aptos"/>
              </a:rPr>
              <a:t>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2350008"/>
            <a:ext cx="1636776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7FA"/>
                </a:solidFill>
                <a:latin typeface="Aptos"/>
              </a:rPr>
              <a:t>persistence → LR
→ XGBoost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9659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192" y="2075688"/>
            <a:ext cx="1911095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DOCTOR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350008"/>
            <a:ext cx="1911095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7FA"/>
                </a:solidFill>
                <a:latin typeface="Aptos"/>
              </a:rPr>
              <a:t>forecast • reasons
freshness • audit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78608" y="2423160"/>
            <a:ext cx="228600" cy="0"/>
          </a:xfrm>
          <a:prstGeom prst="line">
            <a:avLst/>
          </a:prstGeom>
          <a:ln w="21590">
            <a:solidFill>
              <a:srgbClr val="36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73167" y="2423160"/>
            <a:ext cx="228601" cy="0"/>
          </a:xfrm>
          <a:prstGeom prst="line">
            <a:avLst/>
          </a:prstGeom>
          <a:ln w="21590">
            <a:solidFill>
              <a:srgbClr val="36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59167" y="2423160"/>
            <a:ext cx="228601" cy="0"/>
          </a:xfrm>
          <a:prstGeom prst="line">
            <a:avLst/>
          </a:prstGeom>
          <a:ln w="21590">
            <a:solidFill>
              <a:srgbClr val="36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62288" y="2423160"/>
            <a:ext cx="228600" cy="0"/>
          </a:xfrm>
          <a:prstGeom prst="line">
            <a:avLst/>
          </a:prstGeom>
          <a:ln w="21590">
            <a:solidFill>
              <a:srgbClr val="36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520" y="379476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794760"/>
            <a:ext cx="64008" cy="1143000"/>
          </a:xfrm>
          <a:prstGeom prst="rect">
            <a:avLst/>
          </a:prstGeom>
          <a:solidFill>
            <a:srgbClr val="7F92A8"/>
          </a:solidFill>
          <a:ln>
            <a:solidFill>
              <a:srgbClr val="7F9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959352"/>
            <a:ext cx="28346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Aptos"/>
              </a:rPr>
              <a:t>State store + prediction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407408"/>
            <a:ext cx="283464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5D4"/>
                </a:solidFill>
                <a:latin typeface="Aptos"/>
              </a:rPr>
              <a:t>SQLite for PoC; versioned timestamps.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79476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3794760"/>
            <a:ext cx="64008" cy="1143000"/>
          </a:xfrm>
          <a:prstGeom prst="rect">
            <a:avLst/>
          </a:prstGeom>
          <a:solidFill>
            <a:srgbClr val="FF7272"/>
          </a:solidFill>
          <a:ln>
            <a:solidFill>
              <a:srgbClr val="FF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3959352"/>
            <a:ext cx="28346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Aptos"/>
              </a:rPr>
              <a:t>Safety gates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407408"/>
            <a:ext cx="283464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5D4"/>
                </a:solidFill>
                <a:latin typeface="Aptos"/>
              </a:rPr>
              <a:t>Abstain if stale, incomplete or out-of-range.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79476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794760"/>
            <a:ext cx="64008" cy="1143000"/>
          </a:xfrm>
          <a:prstGeom prst="rect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3959352"/>
            <a:ext cx="28346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Aptos"/>
              </a:rPr>
              <a:t>Reproducibility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4407408"/>
            <a:ext cx="283464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5D4"/>
                </a:solidFill>
                <a:latin typeface="Aptos"/>
              </a:rPr>
              <a:t>Pinned dependencies, split manifest, tests.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44068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8C5D4"/>
                </a:solidFill>
                <a:latin typeface="Aptos"/>
              </a:rPr>
              <a:t>Recommended stack: Python + pandas + scikit-learn / XGBoost + Streamlit + SQLite. FastAPI / React are optional, not MVP requirements.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07/16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07 / ML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Model choice is earned by comparison—not assumed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5D4"/>
                </a:solidFill>
                <a:latin typeface="Aptos"/>
              </a:rPr>
              <a:t>The supplied files contain no trained model or measured performance, so no accuracy is claimed.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3474720" cy="33832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64208"/>
            <a:ext cx="64008" cy="3383280"/>
          </a:xfrm>
          <a:prstGeom prst="rect">
            <a:avLst/>
          </a:prstGeom>
          <a:solidFill>
            <a:srgbClr val="7F92A8"/>
          </a:solidFill>
          <a:ln>
            <a:solidFill>
              <a:srgbClr val="7F9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28800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Aptos"/>
              </a:rPr>
              <a:t>BASELINES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67712"/>
            <a:ext cx="3154679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7F92A8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Persistence / current-state rule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7F92A8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Logistic regression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7F92A8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Simple CGM-trend model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7F92A8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Compare before XGBoost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664208"/>
            <a:ext cx="3474720" cy="33832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664208"/>
            <a:ext cx="64008" cy="3383280"/>
          </a:xfrm>
          <a:prstGeom prst="rect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828800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Aptos"/>
              </a:rPr>
              <a:t>CANDIDATE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267712"/>
            <a:ext cx="3154679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XGBoost classifier on static + dynamic features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Probability calibration on validation patients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Reason codes / feature contribution summary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Abstain when input quality is insufficient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664208"/>
            <a:ext cx="3474720" cy="338328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4152" y="1664208"/>
            <a:ext cx="64008" cy="338328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Aptos"/>
              </a:rP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267712"/>
            <a:ext cx="3154679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Patient-level 70 / 15 / 15 split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AUROC + AUPRC; sensitivity / specificity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Brier score / calibration; false alerts per day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Ablations: static-only, CGM-only, fused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49240"/>
            <a:ext cx="10744200" cy="594360"/>
          </a:xfrm>
          <a:prstGeom prst="roundRect">
            <a:avLst>
              <a:gd name="adj" fmla="val 8000"/>
            </a:avLst>
          </a:prstGeom>
          <a:solidFill>
            <a:srgbClr val="17263B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77256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B454"/>
                </a:solidFill>
                <a:latin typeface="Aptos"/>
              </a:rPr>
              <a:t>Critical rule: split by patient ID before training; no patient’s windows may leak across train / validation / test.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08/16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08 /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Doctor view: see the state, the forecast, and its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t>Concept UI; the repository includes a runnable Streamlit demo using synthetic data only.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72800" cy="4526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719072"/>
            <a:ext cx="10716768" cy="438912"/>
          </a:xfrm>
          <a:prstGeom prst="roundRect">
            <a:avLst>
              <a:gd name="adj" fmla="val 8000"/>
            </a:avLst>
          </a:prstGeom>
          <a:solidFill>
            <a:srgbClr val="DCE6E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9656"/>
            <a:ext cx="4206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B3C"/>
                </a:solidFill>
                <a:latin typeface="Aptos"/>
              </a:rPr>
              <a:t>GLUCOTWIN  /  SYNTHETIC PATIENT SYN-023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19656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A4C00"/>
                </a:solidFill>
                <a:latin typeface="Aptos"/>
              </a:rPr>
              <a:t>DATA FRESHNESS: DEMO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59152"/>
            <a:ext cx="1920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2468880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677D"/>
                </a:solidFill>
                <a:latin typeface="Aptos"/>
              </a:rPr>
              <a:t>CURRENT CGM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724912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B9E94"/>
                </a:solidFill>
                <a:latin typeface="Aptos"/>
              </a:rPr>
              <a:t>164 mg/dL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163824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3677D"/>
                </a:solidFill>
                <a:latin typeface="Aptos"/>
              </a:rPr>
              <a:t>Synthetic illustrative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359152"/>
            <a:ext cx="1920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4" y="2468880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677D"/>
                </a:solidFill>
                <a:latin typeface="Aptos"/>
              </a:rPr>
              <a:t>LAST 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2724912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B454"/>
                </a:solidFill>
                <a:latin typeface="Aptos"/>
              </a:rPr>
              <a:t>Rising trend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3163824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3677D"/>
                </a:solidFill>
                <a:latin typeface="Aptos"/>
              </a:rPr>
              <a:t>Illustrative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2359152"/>
            <a:ext cx="1920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9784" y="2468880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677D"/>
                </a:solidFill>
                <a:latin typeface="Aptos"/>
              </a:rPr>
              <a:t>60-MIN 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724912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t>SYNTHETIC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4" y="3163824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t>Synthetic model only; no real-data result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359152"/>
            <a:ext cx="1920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7184" y="2468880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677D"/>
                </a:solidFill>
                <a:latin typeface="Aptos"/>
              </a:rPr>
              <a:t>UNCERTAINTY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2724912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B454"/>
                </a:solidFill>
                <a:latin typeface="Aptos"/>
              </a:rPr>
              <a:t>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3163824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3677D"/>
                </a:solidFill>
                <a:latin typeface="Aptos"/>
              </a:rPr>
              <a:t>Calibration not 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2359152"/>
            <a:ext cx="1920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2468880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677D"/>
                </a:solidFill>
                <a:latin typeface="Aptos"/>
              </a:rPr>
              <a:t>LAST SAMPLE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724912"/>
            <a:ext cx="1645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7F92A8"/>
                </a:solidFill>
                <a:latin typeface="Aptos"/>
              </a:rPr>
              <a:t>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3163824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3677D"/>
                </a:solidFill>
                <a:latin typeface="Aptos"/>
              </a:rPr>
              <a:t>No live feed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822191"/>
            <a:ext cx="66294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395020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3677D"/>
                </a:solidFill>
                <a:latin typeface="Aptos"/>
              </a:rPr>
              <a:t>ILLUSTRATIVE CGM TRACE — NOT A RESULT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88720" y="5349240"/>
            <a:ext cx="5989320" cy="0"/>
          </a:xfrm>
          <a:prstGeom prst="line">
            <a:avLst/>
          </a:prstGeom>
          <a:ln w="10160">
            <a:solidFill>
              <a:srgbClr val="CF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88720" y="4343400"/>
            <a:ext cx="0" cy="1005840"/>
          </a:xfrm>
          <a:prstGeom prst="line">
            <a:avLst/>
          </a:prstGeom>
          <a:ln w="10160">
            <a:solidFill>
              <a:srgbClr val="CF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88720" y="4709160"/>
            <a:ext cx="5989320" cy="0"/>
          </a:xfrm>
          <a:prstGeom prst="line">
            <a:avLst/>
          </a:prstGeom>
          <a:ln w="15240">
            <a:solidFill>
              <a:srgbClr val="E9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325880" y="5074920"/>
            <a:ext cx="594360" cy="91440"/>
          </a:xfrm>
          <a:prstGeom prst="line">
            <a:avLst/>
          </a:prstGeom>
          <a:ln w="25400">
            <a:solidFill>
              <a:srgbClr val="1B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920240" y="5029200"/>
            <a:ext cx="594360" cy="45720"/>
          </a:xfrm>
          <a:prstGeom prst="line">
            <a:avLst/>
          </a:prstGeom>
          <a:ln w="25400">
            <a:solidFill>
              <a:srgbClr val="1B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14600" y="4937760"/>
            <a:ext cx="594360" cy="91440"/>
          </a:xfrm>
          <a:prstGeom prst="line">
            <a:avLst/>
          </a:prstGeom>
          <a:ln w="25400">
            <a:solidFill>
              <a:srgbClr val="1B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108960" y="4892040"/>
            <a:ext cx="594360" cy="45720"/>
          </a:xfrm>
          <a:prstGeom prst="line">
            <a:avLst/>
          </a:prstGeom>
          <a:ln w="25400">
            <a:solidFill>
              <a:srgbClr val="1B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703320" y="4773168"/>
            <a:ext cx="594360" cy="118872"/>
          </a:xfrm>
          <a:prstGeom prst="line">
            <a:avLst/>
          </a:prstGeom>
          <a:ln w="25400">
            <a:solidFill>
              <a:srgbClr val="1B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297680" y="4681728"/>
            <a:ext cx="594360" cy="91440"/>
          </a:xfrm>
          <a:prstGeom prst="line">
            <a:avLst/>
          </a:prstGeom>
          <a:ln w="25400">
            <a:solidFill>
              <a:srgbClr val="1B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892040" y="4590288"/>
            <a:ext cx="594360" cy="91440"/>
          </a:xfrm>
          <a:prstGeom prst="line">
            <a:avLst/>
          </a:prstGeom>
          <a:ln w="25400">
            <a:solidFill>
              <a:srgbClr val="1B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486400" y="4462272"/>
            <a:ext cx="594360" cy="128016"/>
          </a:xfrm>
          <a:prstGeom prst="line">
            <a:avLst/>
          </a:prstGeom>
          <a:ln w="25400">
            <a:solidFill>
              <a:srgbClr val="1B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080760" y="4389120"/>
            <a:ext cx="594360" cy="73152"/>
          </a:xfrm>
          <a:prstGeom prst="line">
            <a:avLst/>
          </a:prstGeom>
          <a:ln w="25400">
            <a:solidFill>
              <a:srgbClr val="1B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675120" y="4315968"/>
            <a:ext cx="411480" cy="73152"/>
          </a:xfrm>
          <a:prstGeom prst="line">
            <a:avLst/>
          </a:prstGeom>
          <a:ln w="25400">
            <a:solidFill>
              <a:srgbClr val="1B9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806440" y="4517136"/>
            <a:ext cx="1143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5B00"/>
                </a:solidFill>
                <a:latin typeface="Aptos"/>
              </a:rPr>
              <a:t>180 mg/dL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99248" y="3822191"/>
            <a:ext cx="33375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09560" y="3968496"/>
            <a:ext cx="2834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3677D"/>
                </a:solidFill>
                <a:latin typeface="Aptos"/>
              </a:rPr>
              <a:t>WHY / DATA QUALITY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4315968"/>
            <a:ext cx="278892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951"/>
                </a:solidFill>
                <a:latin typeface="Aptos"/>
              </a:rPr>
              <a:t>• Recent CGM slope
• Meal event timestamp
• Missingness / freshness
• Clinician review required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833872"/>
            <a:ext cx="10424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A4C00"/>
                </a:solidFill>
                <a:latin typeface="Aptos"/>
              </a:rPr>
              <a:t>All patient identifiers and values shown here are synthetic placeholders; no trained-model probability is displayed.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09/16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09 / PRIOR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The field already exists—our claim must be precise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5D4"/>
                </a:solidFill>
                <a:latin typeface="Aptos"/>
              </a:rPr>
              <a:t>Existing datasets and forecasting papers make “world’s first” or “no one does this” indefensible.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3520440" cy="164592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64008" cy="1645920"/>
          </a:xfrm>
          <a:prstGeom prst="rect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64792"/>
            <a:ext cx="3154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Aptos"/>
              </a:rPr>
              <a:t>ShanghaiT2DM (2023)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315468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5D4"/>
                </a:solidFill>
                <a:latin typeface="Aptos"/>
              </a:rPr>
              <a:t>100 T2D patients; CGM + clinical/lab profile + medications + diet. Dataset, not a complete deployed twin.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520440" cy="164592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64008" cy="164592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64792"/>
            <a:ext cx="3154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Aptos"/>
              </a:rPr>
              <a:t>CGMacros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212848"/>
            <a:ext cx="315468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5D4"/>
                </a:solidFill>
                <a:latin typeface="Aptos"/>
              </a:rPr>
              <a:t>45 participants incl. 14 T2D; dual CGM + Fitbit + meal macros + labs. Rich multimodal data, small cohort.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20440" cy="164592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600200"/>
            <a:ext cx="64008" cy="1645920"/>
          </a:xfrm>
          <a:prstGeom prst="rect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764792"/>
            <a:ext cx="3154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Aptos"/>
              </a:rPr>
              <a:t>DiaTrend (2023)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212848"/>
            <a:ext cx="315468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5D4"/>
                </a:solidFill>
                <a:latin typeface="Aptos"/>
              </a:rPr>
              <a:t>54 people with T1D; 27,561 CGM days and 8,220 pump-data days. Controlled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3611880"/>
            <a:ext cx="3520440" cy="164592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3611880"/>
            <a:ext cx="64008" cy="164592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0048" y="3776472"/>
            <a:ext cx="3154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Aptos"/>
              </a:rPr>
              <a:t>60-min prediction research (2025)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4224528"/>
            <a:ext cx="315468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5D4"/>
                </a:solidFill>
                <a:latin typeface="Aptos"/>
              </a:rPr>
              <a:t>Published models already forecast glucose from CGM; fairness and patient-level generalization matter.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11880"/>
            <a:ext cx="3520440" cy="164592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611880"/>
            <a:ext cx="64008" cy="1645920"/>
          </a:xfrm>
          <a:prstGeom prst="rect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776472"/>
            <a:ext cx="3154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Aptos"/>
              </a:rPr>
              <a:t>UVA/Padova simulator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24528"/>
            <a:ext cx="315468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5D4"/>
                </a:solidFill>
                <a:latin typeface="Aptos"/>
              </a:rPr>
              <a:t>Physiological virtual-patient simulation used in artificial-pancreas research; not the same as this T2D task.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669280"/>
            <a:ext cx="10607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B454"/>
                </a:solidFill>
                <a:latin typeface="Aptos"/>
              </a:rPr>
              <a:t>A 2026 Scientific Reports study also compares traditional, deep and LLM models on ShanghaiT2DM—so baseline benchmarking and leakage-safe evaluation are essential.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10 /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Defensible differentiation: a measurable integration, not a novelty slogan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5D4"/>
                </a:solidFill>
                <a:latin typeface="Aptos"/>
              </a:rPr>
              <a:t>The potential contribution is a transparent stateful workflow and rigorous evaluation—not a new physiological law.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64208"/>
            <a:ext cx="3429000" cy="347472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64208"/>
            <a:ext cx="64008" cy="3474720"/>
          </a:xfrm>
          <a:prstGeom prst="rect">
            <a:avLst/>
          </a:prstGeom>
          <a:solidFill>
            <a:srgbClr val="7F92A8"/>
          </a:solidFill>
          <a:ln>
            <a:solidFill>
              <a:srgbClr val="7F9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Aptos"/>
              </a:rPr>
              <a:t>ESTABLISHED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67712"/>
            <a:ext cx="3108960" cy="27614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7F92A8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CGM forecasting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7F92A8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Static + time-series feature fusion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7F92A8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Tree models / recurrent models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7F92A8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Clinical thresholds and dashboards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64208"/>
            <a:ext cx="3429000" cy="347472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64208"/>
            <a:ext cx="64008" cy="3474720"/>
          </a:xfrm>
          <a:prstGeom prst="rect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28800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Aptos"/>
              </a:rPr>
              <a:t>PROPOSED GLUCOTWIN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67712"/>
            <a:ext cx="3108960" cy="27614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Matched patient-level clinical + CGM state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Meal / medication events time-aligned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Explicit data-freshness and abstention state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Patient-level split + fusion ablations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64208"/>
            <a:ext cx="3429000" cy="347472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664208"/>
            <a:ext cx="64008" cy="347472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Aptos"/>
              </a:rPr>
              <a:t>WHAT WOULD PROVE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267712"/>
            <a:ext cx="3108960" cy="27614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Fused model beats CGM-only baseline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Calibration acceptable on held-out patients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False-alert burden is reported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Results reproducible from public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57784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B454"/>
                </a:solidFill>
                <a:latin typeface="Aptos"/>
              </a:rPr>
              <a:t>Claim only what experiments show. If fusion does not improve performance, report that honestly and retain the simpler model.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11 / CLINICAL SAFETY +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Safety is a product requirement, not a disclaimer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5D4"/>
                </a:solidFill>
                <a:latin typeface="Aptos"/>
              </a:rPr>
              <a:t>Research prototype only. No autonomous action and no medication or insulin-dose recommendations.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3429000" cy="333756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64208"/>
            <a:ext cx="64008" cy="3337560"/>
          </a:xfrm>
          <a:prstGeom prst="rect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28800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Aptos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67712"/>
            <a:ext cx="3108960" cy="2624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Predict a future CGM threshold crossing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Not diagnosis or treatment guidance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No dose calculation or prescription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36D6C5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Clinician remains responsible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64208"/>
            <a:ext cx="3429000" cy="333756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64208"/>
            <a:ext cx="64008" cy="333756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828800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Aptos"/>
              </a:rPr>
              <a:t>FAIL-SAFE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67712"/>
            <a:ext cx="3108960" cy="2624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Missing / stale CGM → show warning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Out-of-range inputs → abstain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Show forecast horizon and last update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B454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Log input version and model 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64208"/>
            <a:ext cx="3429000" cy="333756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64208"/>
            <a:ext cx="64008" cy="3337560"/>
          </a:xfrm>
          <a:prstGeom prst="rect">
            <a:avLst/>
          </a:prstGeom>
          <a:solidFill>
            <a:srgbClr val="FF7272"/>
          </a:solidFill>
          <a:ln>
            <a:solidFill>
              <a:srgbClr val="FF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828800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Aptos"/>
              </a:rP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67712"/>
            <a:ext cx="3108960" cy="2624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7272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Public, anonymized research data only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7272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Synthetic names in the demo UI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7272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No patient identifiers in GitHub</a:t>
            </a:r>
          </a:p>
          <a:p>
            <a:pPr>
              <a:spcAft>
                <a:spcPts val="400"/>
              </a:spcAft>
              <a:defRPr sz="1400">
                <a:solidFill>
                  <a:srgbClr val="B8C5D4"/>
                </a:solidFill>
                <a:latin typeface="Aptos"/>
              </a:defRPr>
            </a:pPr>
            <a:r>
              <a:rPr b="1" sz="1500">
                <a:solidFill>
                  <a:srgbClr val="FF7272"/>
                </a:solidFill>
              </a:rPr>
              <a:t>• </a:t>
            </a:r>
            <a:r>
              <a:rPr sz="1400">
                <a:solidFill>
                  <a:srgbClr val="B8C5D4"/>
                </a:solidFill>
                <a:latin typeface="Aptos"/>
              </a:rPr>
              <a:t>Document dataset and code licences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49240"/>
            <a:ext cx="10744200" cy="658368"/>
          </a:xfrm>
          <a:prstGeom prst="roundRect">
            <a:avLst>
              <a:gd name="adj" fmla="val 8000"/>
            </a:avLst>
          </a:prstGeom>
          <a:solidFill>
            <a:srgbClr val="17263B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Aptos"/>
              </a:rPr>
              <a:t>Predictive performance ≠ retrospective validation ≠ prospective clinical validation ≠ regulatory approval.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12 / BUILD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What is evidenced—and what is not yet evidenced in the supplied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t>Runnable synthetic-demo pipeline is included; real-data evaluation and clinical validation remain unverified.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64208"/>
            <a:ext cx="5257800" cy="356616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64208"/>
            <a:ext cx="64008" cy="3566160"/>
          </a:xfrm>
          <a:prstGeom prst="rect">
            <a:avLst/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8920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Aptos"/>
              </a:rPr>
              <a:t>AVAILABLE FROM UPLOADS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67712"/>
            <a:ext cx="4937760" cy="2852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200"/>
            </a:pPr>
            <a:r>
              <a:t>• 8-slide Matri-Kavach deck and blueprint were reviewed</a:t>
            </a:r>
          </a:p>
          <a:p>
            <a:pPr>
              <a:spcAft>
                <a:spcPts val="500"/>
              </a:spcAft>
              <a:defRPr sz="1200"/>
            </a:pPr>
            <a:r>
              <a:t>• Strong safety and audit principles retained</a:t>
            </a:r>
          </a:p>
          <a:p>
            <a:pPr>
              <a:spcAft>
                <a:spcPts val="500"/>
              </a:spcAft>
              <a:defRPr sz="1200"/>
            </a:pPr>
            <a:r>
              <a:t>• Runnable synthetic data generator, model and dashboard included</a:t>
            </a:r>
          </a:p>
          <a:p>
            <a:pPr>
              <a:spcAft>
                <a:spcPts val="500"/>
              </a:spcAft>
              <a:defRPr sz="1200"/>
            </a:pPr>
            <a:r>
              <a:t>• No ShanghaiT2DM model evaluation or clinical validation verified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64208"/>
            <a:ext cx="5257800" cy="3566160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64208"/>
            <a:ext cx="64008" cy="356616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828800"/>
            <a:ext cx="48920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Aptos"/>
              </a:rPr>
              <a:t>REQUIRED BEFORE CLAIMING A WORKING TWIN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67712"/>
            <a:ext cx="4937760" cy="2852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200"/>
            </a:pPr>
            <a:r>
              <a:t>• Download and inspect ShanghaiT2DM with attribution</a:t>
            </a:r>
          </a:p>
          <a:p>
            <a:pPr>
              <a:spcAft>
                <a:spcPts val="500"/>
              </a:spcAft>
              <a:defRPr sz="1200"/>
            </a:pPr>
            <a:r>
              <a:t>• Train and test with patient-level separation</a:t>
            </a:r>
          </a:p>
          <a:p>
            <a:pPr>
              <a:spcAft>
                <a:spcPts val="500"/>
              </a:spcAft>
              <a:defRPr sz="1200"/>
            </a:pPr>
            <a:r>
              <a:t>• Report AUROC/AUPRC, calibration and alert burden</a:t>
            </a:r>
          </a:p>
          <a:p>
            <a:pPr>
              <a:spcAft>
                <a:spcPts val="500"/>
              </a:spcAft>
              <a:defRPr sz="1200"/>
            </a:pPr>
            <a:r>
              <a:t>• Compare static-only, CGM-only and fused models</a:t>
            </a:r>
          </a:p>
          <a:p>
            <a:pPr>
              <a:spcAft>
                <a:spcPts val="500"/>
              </a:spcAft>
              <a:defRPr sz="1200"/>
            </a:pPr>
            <a:r>
              <a:t>• Record the actual app; label synthetic demo correctly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77840"/>
            <a:ext cx="10424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7272"/>
                </a:solidFill>
                <a:latin typeface="Aptos"/>
              </a:rPr>
              <a:t>Do not describe proposed components as implemented or present illustrative traces as model outputs.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13 /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Official submission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5D4"/>
                </a:solidFill>
                <a:latin typeface="Aptos"/>
              </a:rPr>
              <a:t>The official listing requires a public repository and a minimum 20-minute demonstration video.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00200"/>
            <a:ext cx="8092440" cy="347472"/>
          </a:xfrm>
          <a:prstGeom prst="rect">
            <a:avLst/>
          </a:prstGeom>
          <a:solidFill>
            <a:srgbClr val="1E3048"/>
          </a:solidFill>
          <a:ln>
            <a:solidFill>
              <a:srgbClr val="1E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64208"/>
            <a:ext cx="6492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5F7FA"/>
                </a:solidFill>
                <a:latin typeface="Aptos"/>
              </a:rPr>
              <a:t>1–4 full-time students; registered team unchanged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600200"/>
            <a:ext cx="2651760" cy="347472"/>
          </a:xfrm>
          <a:prstGeom prst="roundRect">
            <a:avLst>
              <a:gd name="adj" fmla="val 8000"/>
            </a:avLst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42832" y="1664208"/>
            <a:ext cx="25054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B2D"/>
                </a:solidFill>
                <a:latin typeface="Aptos"/>
              </a:rPr>
              <a:t>VERIFY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75104"/>
            <a:ext cx="8092440" cy="347472"/>
          </a:xfrm>
          <a:prstGeom prst="rect">
            <a:avLst/>
          </a:prstGeom>
          <a:solidFill>
            <a:srgbClr val="17263B"/>
          </a:solidFill>
          <a:ln>
            <a:solidFill>
              <a:srgbClr val="17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39112"/>
            <a:ext cx="6492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5F7FA"/>
                </a:solidFill>
                <a:latin typeface="Aptos"/>
              </a:rPr>
              <a:t>One chronic/lifestyle condition + defined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975104"/>
            <a:ext cx="2651760" cy="347472"/>
          </a:xfrm>
          <a:prstGeom prst="roundRect">
            <a:avLst>
              <a:gd name="adj" fmla="val 8000"/>
            </a:avLst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039112"/>
            <a:ext cx="25054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B2D"/>
                </a:solidFill>
                <a:latin typeface="Aptos"/>
              </a:rPr>
              <a:t>DESIGNED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50008"/>
            <a:ext cx="8092440" cy="347472"/>
          </a:xfrm>
          <a:prstGeom prst="rect">
            <a:avLst/>
          </a:prstGeom>
          <a:solidFill>
            <a:srgbClr val="1E3048"/>
          </a:solidFill>
          <a:ln>
            <a:solidFill>
              <a:srgbClr val="1E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14016"/>
            <a:ext cx="6492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5F7FA"/>
                </a:solidFill>
                <a:latin typeface="Aptos"/>
              </a:rPr>
              <a:t>Matched static clinical + dynamic CGM streams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350008"/>
            <a:ext cx="2651760" cy="347472"/>
          </a:xfrm>
          <a:prstGeom prst="roundRect">
            <a:avLst>
              <a:gd name="adj" fmla="val 8000"/>
            </a:avLst>
          </a:prstGeom>
          <a:solidFill>
            <a:srgbClr val="FF7272"/>
          </a:solidFill>
          <a:ln>
            <a:solidFill>
              <a:srgbClr val="FF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2414016"/>
            <a:ext cx="25054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B2D"/>
                </a:solidFill>
                <a:latin typeface="Aptos"/>
              </a:rPr>
              <a:t>DATASET SELECTED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24912"/>
            <a:ext cx="8092440" cy="347472"/>
          </a:xfrm>
          <a:prstGeom prst="rect">
            <a:avLst/>
          </a:prstGeom>
          <a:solidFill>
            <a:srgbClr val="17263B"/>
          </a:solidFill>
          <a:ln>
            <a:solidFill>
              <a:srgbClr val="17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788920"/>
            <a:ext cx="6492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5F7FA"/>
                </a:solidFill>
                <a:latin typeface="Aptos"/>
              </a:rPr>
              <a:t>Working model predicts future event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2724912"/>
            <a:ext cx="2651760" cy="347472"/>
          </a:xfrm>
          <a:prstGeom prst="roundRect">
            <a:avLst>
              <a:gd name="adj" fmla="val 8000"/>
            </a:avLst>
          </a:prstGeom>
          <a:solidFill>
            <a:srgbClr val="FF7272"/>
          </a:solidFill>
          <a:ln>
            <a:solidFill>
              <a:srgbClr val="FF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2788920"/>
            <a:ext cx="25054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B2D"/>
                </a:solidFill>
                <a:latin typeface="Aptos"/>
              </a:rPr>
              <a:t>NOT VERIFIED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99816"/>
            <a:ext cx="8092440" cy="347472"/>
          </a:xfrm>
          <a:prstGeom prst="rect">
            <a:avLst/>
          </a:prstGeom>
          <a:solidFill>
            <a:srgbClr val="1E3048"/>
          </a:solidFill>
          <a:ln>
            <a:solidFill>
              <a:srgbClr val="1E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163824"/>
            <a:ext cx="6492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5F7FA"/>
                </a:solidFill>
                <a:latin typeface="Aptos"/>
              </a:rPr>
              <a:t>Doctor-facing conceptual 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3099816"/>
            <a:ext cx="2651760" cy="347472"/>
          </a:xfrm>
          <a:prstGeom prst="roundRect">
            <a:avLst>
              <a:gd name="adj" fmla="val 8000"/>
            </a:avLst>
          </a:prstGeom>
          <a:solidFill>
            <a:srgbClr val="FF7272"/>
          </a:solidFill>
          <a:ln>
            <a:solidFill>
              <a:srgbClr val="FF72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3163824"/>
            <a:ext cx="25054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B2D"/>
                </a:solidFill>
                <a:latin typeface="Aptos"/>
              </a:rPr>
              <a:t>MOCKUP IN DECK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474720"/>
            <a:ext cx="8092440" cy="347472"/>
          </a:xfrm>
          <a:prstGeom prst="rect">
            <a:avLst/>
          </a:prstGeom>
          <a:solidFill>
            <a:srgbClr val="17263B"/>
          </a:solidFill>
          <a:ln>
            <a:solidFill>
              <a:srgbClr val="17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538728"/>
            <a:ext cx="6492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5F7FA"/>
                </a:solidFill>
                <a:latin typeface="Aptos"/>
              </a:rPr>
              <a:t>Public GitHub + README required fields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3474720"/>
            <a:ext cx="2651760" cy="347472"/>
          </a:xfrm>
          <a:prstGeom prst="roundRect">
            <a:avLst>
              <a:gd name="adj" fmla="val 8000"/>
            </a:avLst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42832" y="3538728"/>
            <a:ext cx="25054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B2D"/>
                </a:solidFill>
                <a:latin typeface="Aptos"/>
              </a:rPr>
              <a:t>TO BUILD / VERIFY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849624"/>
            <a:ext cx="8092440" cy="347472"/>
          </a:xfrm>
          <a:prstGeom prst="rect">
            <a:avLst/>
          </a:prstGeom>
          <a:solidFill>
            <a:srgbClr val="1E3048"/>
          </a:solidFill>
          <a:ln>
            <a:solidFill>
              <a:srgbClr val="1E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913632"/>
            <a:ext cx="6492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5F7FA"/>
                </a:solidFill>
                <a:latin typeface="Aptos"/>
              </a:rPr>
              <a:t>Open-source licence + dataset attribution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3849624"/>
            <a:ext cx="2651760" cy="347472"/>
          </a:xfrm>
          <a:prstGeom prst="roundRect">
            <a:avLst>
              <a:gd name="adj" fmla="val 8000"/>
            </a:avLst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42832" y="3913632"/>
            <a:ext cx="25054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B2D"/>
                </a:solidFill>
                <a:latin typeface="Aptos"/>
              </a:rPr>
              <a:t>TO ADD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224528"/>
            <a:ext cx="8092440" cy="347472"/>
          </a:xfrm>
          <a:prstGeom prst="rect">
            <a:avLst/>
          </a:prstGeom>
          <a:solidFill>
            <a:srgbClr val="17263B"/>
          </a:solidFill>
          <a:ln>
            <a:solidFill>
              <a:srgbClr val="17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288536"/>
            <a:ext cx="6492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5F7FA"/>
                </a:solidFill>
                <a:latin typeface="Aptos"/>
              </a:rPr>
              <a:t>Architecture diagram PDF/PPT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4224528"/>
            <a:ext cx="2651760" cy="347472"/>
          </a:xfrm>
          <a:prstGeom prst="roundRect">
            <a:avLst>
              <a:gd name="adj" fmla="val 8000"/>
            </a:avLst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42832" y="4288536"/>
            <a:ext cx="25054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B2D"/>
                </a:solidFill>
                <a:latin typeface="Aptos"/>
              </a:rPr>
              <a:t>INCLUDED AS SEPARATE PDF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599432"/>
            <a:ext cx="8092440" cy="347472"/>
          </a:xfrm>
          <a:prstGeom prst="rect">
            <a:avLst/>
          </a:prstGeom>
          <a:solidFill>
            <a:srgbClr val="1E3048"/>
          </a:solidFill>
          <a:ln>
            <a:solidFill>
              <a:srgbClr val="1E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663440"/>
            <a:ext cx="6492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5F7FA"/>
                </a:solidFill>
                <a:latin typeface="Aptos"/>
              </a:rPr>
              <a:t>Presentation PDF/PPT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4599432"/>
            <a:ext cx="2651760" cy="347472"/>
          </a:xfrm>
          <a:prstGeom prst="roundRect">
            <a:avLst>
              <a:gd name="adj" fmla="val 8000"/>
            </a:avLst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42832" y="4663440"/>
            <a:ext cx="25054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B2D"/>
                </a:solidFill>
                <a:latin typeface="Aptos"/>
              </a:rPr>
              <a:t>PPTX CREATED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974336"/>
            <a:ext cx="8092440" cy="347472"/>
          </a:xfrm>
          <a:prstGeom prst="rect">
            <a:avLst/>
          </a:prstGeom>
          <a:solidFill>
            <a:srgbClr val="17263B"/>
          </a:solidFill>
          <a:ln>
            <a:solidFill>
              <a:srgbClr val="17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038344"/>
            <a:ext cx="6492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5F7FA"/>
                </a:solidFill>
                <a:latin typeface="Aptos"/>
              </a:rPr>
              <a:t>Minimum 20-minute demo video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69680" y="4974336"/>
            <a:ext cx="2651760" cy="347472"/>
          </a:xfrm>
          <a:prstGeom prst="roundRect">
            <a:avLst>
              <a:gd name="adj" fmla="val 8000"/>
            </a:avLst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42832" y="5038344"/>
            <a:ext cx="25054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B2D"/>
                </a:solidFill>
                <a:latin typeface="Aptos"/>
              </a:rPr>
              <a:t>SCRIPT PROVIDED; RECORDING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5349240"/>
            <a:ext cx="8092440" cy="347472"/>
          </a:xfrm>
          <a:prstGeom prst="rect">
            <a:avLst/>
          </a:prstGeom>
          <a:solidFill>
            <a:srgbClr val="1E3048"/>
          </a:solidFill>
          <a:ln>
            <a:solidFill>
              <a:srgbClr val="1E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5413248"/>
            <a:ext cx="6492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5F7FA"/>
                </a:solidFill>
                <a:latin typeface="Aptos"/>
              </a:rPr>
              <a:t>Prototype/code deadline: 20 Oct, 7 PM IST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69680" y="5349240"/>
            <a:ext cx="2651760" cy="347472"/>
          </a:xfrm>
          <a:prstGeom prst="roundRect">
            <a:avLst>
              <a:gd name="adj" fmla="val 8000"/>
            </a:avLst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42832" y="5413248"/>
            <a:ext cx="25054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1B2D"/>
                </a:solidFill>
                <a:latin typeface="Aptos"/>
              </a:rPr>
              <a:t>URGENT / CHECK PORTAL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925312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454"/>
                </a:solidFill>
                <a:latin typeface="Aptos"/>
              </a:rPr>
              <a:t>Listing inconsistency: top 10 teams appear in the stage timeline; top 5 appear in the Phase 1 description. Confirm with organiser.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14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Execution order: build the smallest credible end-to-end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5D4"/>
                </a:solidFill>
                <a:latin typeface="Aptos"/>
              </a:rPr>
              <a:t>A short deadline rewards working evidence—not an oversized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64208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56232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1B2D"/>
                </a:solidFill>
                <a:latin typeface="Aptos"/>
              </a:rPr>
              <a:t>P0 •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64208"/>
            <a:ext cx="8458200" cy="658368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27248" y="1801368"/>
            <a:ext cx="8046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Aptos"/>
              </a:rPr>
              <a:t>Download / inspect ShanghaiT2DM; confirm CC BY 4.0 attribution; validate patient IDs and timestamps.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2340864"/>
            <a:ext cx="0" cy="164592"/>
          </a:xfrm>
          <a:prstGeom prst="line">
            <a:avLst/>
          </a:prstGeom>
          <a:ln w="1905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9808" y="2496312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88336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1B2D"/>
                </a:solidFill>
                <a:latin typeface="Aptos"/>
              </a:rPr>
              <a:t>P1 • LABELS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496312"/>
            <a:ext cx="8458200" cy="658368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2633472"/>
            <a:ext cx="8046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Aptos"/>
              </a:rPr>
              <a:t>Build 4-hour lookback windows; label future threshold crossing; split by patient before model fitting.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3172968"/>
            <a:ext cx="0" cy="164592"/>
          </a:xfrm>
          <a:prstGeom prst="line">
            <a:avLst/>
          </a:prstGeom>
          <a:ln w="1905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8" y="3328416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20440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1B2D"/>
                </a:solidFill>
                <a:latin typeface="Aptos"/>
              </a:rPr>
              <a:t>P2 •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328416"/>
            <a:ext cx="8458200" cy="658368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7248" y="3465576"/>
            <a:ext cx="8046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Aptos"/>
              </a:rPr>
              <a:t>Run persistence + logistic regression + XGBoost; record AUROC/AUPRC, calibration and alert burden.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37360" y="4005072"/>
            <a:ext cx="0" cy="164592"/>
          </a:xfrm>
          <a:prstGeom prst="line">
            <a:avLst/>
          </a:prstGeom>
          <a:ln w="1905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4160520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52544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1B2D"/>
                </a:solidFill>
                <a:latin typeface="Aptos"/>
              </a:rPr>
              <a:t>P3 • 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4160520"/>
            <a:ext cx="8458200" cy="658368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4297680"/>
            <a:ext cx="8046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Aptos"/>
              </a:rPr>
              <a:t>Show baseline profile, live-like CGM update, prediction, freshness warning, explanation and audit history.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37360" y="4837176"/>
            <a:ext cx="0" cy="164592"/>
          </a:xfrm>
          <a:prstGeom prst="line">
            <a:avLst/>
          </a:prstGeom>
          <a:ln w="1905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9808" y="4992624"/>
            <a:ext cx="1965960" cy="658368"/>
          </a:xfrm>
          <a:prstGeom prst="roundRect">
            <a:avLst>
              <a:gd name="adj" fmla="val 8000"/>
            </a:avLst>
          </a:prstGeom>
          <a:solidFill>
            <a:srgbClr val="36D6C5"/>
          </a:solidFill>
          <a:ln>
            <a:solidFill>
              <a:srgbClr val="3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184648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1B2D"/>
                </a:solidFill>
                <a:latin typeface="Aptos"/>
              </a:rPr>
              <a:t>P4 • RELEASE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4992624"/>
            <a:ext cx="8458200" cy="658368"/>
          </a:xfrm>
          <a:prstGeom prst="roundRect">
            <a:avLst>
              <a:gd name="adj" fmla="val 8000"/>
            </a:avLst>
          </a:prstGeom>
          <a:solidFill>
            <a:srgbClr val="1E3048"/>
          </a:solidFill>
          <a:ln>
            <a:solidFill>
              <a:srgbClr val="3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7248" y="5129784"/>
            <a:ext cx="80467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7FA"/>
                </a:solidFill>
                <a:latin typeface="Aptos"/>
              </a:rPr>
              <a:t>Tests, README, public repo, architecture PDF, deck, 20+ minute video, final playback check.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989320"/>
            <a:ext cx="10607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7272"/>
                </a:solidFill>
                <a:latin typeface="Aptos"/>
              </a:rPr>
              <a:t>If the model cannot be trained and evaluated before submission, disclose the limitation rather than inventing performance.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D6C5"/>
                </a:solidFill>
                <a:latin typeface="Aptos"/>
              </a:rPr>
              <a:t>15 /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Aptos Display"/>
              </a:rPr>
              <a:t>Research references and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5D4"/>
                </a:solidFill>
                <a:latin typeface="Aptos"/>
              </a:rPr>
              <a:t>Official requirements and dataset facts were checked against public sources on 20 October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4251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7FA"/>
                </a:solidFill>
                <a:latin typeface="Aptos"/>
              </a:rPr>
              <a:t>Official challenge listing — rules, submission, deadline,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572768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6D6C5"/>
                </a:solidFill>
                <a:latin typeface="Aptos"/>
              </a:rPr>
              <a:t>https://unstop.com/hackathons/crp-digital-twin-challenge-2026-happiest-health-1757873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65960"/>
            <a:ext cx="4251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7FA"/>
                </a:solidFill>
                <a:latin typeface="Aptos"/>
              </a:rPr>
              <a:t>ShanghaiT2DM dataset paper — Zhao et al., Scientific Data (2023)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965960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6D6C5"/>
                </a:solidFill>
                <a:latin typeface="Aptos"/>
              </a:rPr>
              <a:t>https://www.nature.com/articles/s41597-023-01940-7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59152"/>
            <a:ext cx="4251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7FA"/>
                </a:solidFill>
                <a:latin typeface="Aptos"/>
              </a:rPr>
              <a:t>ShanghaiT1DM / ShanghaiT2DM public data collection — CC BY 4.0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359152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6D6C5"/>
                </a:solidFill>
                <a:latin typeface="Aptos"/>
              </a:rPr>
              <a:t>https://figshare.com/collections/Diabetes_Datasets_ShanghaiT1DM_and_ShanghaiT2DM/6310860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52344"/>
            <a:ext cx="4251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7FA"/>
                </a:solidFill>
                <a:latin typeface="Aptos"/>
              </a:rPr>
              <a:t>CGMacros dataset — Scientific Data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752344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6D6C5"/>
                </a:solidFill>
                <a:latin typeface="Aptos"/>
              </a:rPr>
              <a:t>https://www.nature.com/articles/s41597-025-05851-7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145536"/>
            <a:ext cx="4251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7FA"/>
                </a:solidFill>
                <a:latin typeface="Aptos"/>
              </a:rPr>
              <a:t>CGMacros dataset on PhysioNet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145536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6D6C5"/>
                </a:solidFill>
                <a:latin typeface="Aptos"/>
              </a:rPr>
              <a:t>https://physionet.org/content/cgmacros/1.0.0/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538728"/>
            <a:ext cx="4251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7FA"/>
                </a:solidFill>
                <a:latin typeface="Aptos"/>
              </a:rPr>
              <a:t>DiaTrend dataset — Scientific Data (2023)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538728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6D6C5"/>
                </a:solidFill>
                <a:latin typeface="Aptos"/>
              </a:rPr>
              <a:t>https://www.nature.com/articles/s41597-023-02469-5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931920"/>
            <a:ext cx="4251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7FA"/>
                </a:solidFill>
                <a:latin typeface="Aptos"/>
              </a:rPr>
              <a:t>Glucose-ML dataset collection and harmonization scripts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931920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6D6C5"/>
                </a:solidFill>
                <a:latin typeface="Aptos"/>
              </a:rPr>
              <a:t>https://github.com/Augmented-Health-Lab/Glucose-ML-Project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325112"/>
            <a:ext cx="4251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7FA"/>
                </a:solidFill>
                <a:latin typeface="Aptos"/>
              </a:rPr>
              <a:t>60-minute CGM forecasting and fairness — PLOS Digital Health (2025)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325112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6D6C5"/>
                </a:solidFill>
                <a:latin typeface="Aptos"/>
              </a:rPr>
              <a:t>https://journals.plos.org/digitalhealth/article?id=10.1371/journal.pdig.0000918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718304"/>
            <a:ext cx="4251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7FA"/>
                </a:solidFill>
                <a:latin typeface="Aptos"/>
              </a:rPr>
              <a:t>UVA/Padova T1D simulator review — Journal of Diabetes Science &amp; Technology (2023)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718304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6D6C5"/>
                </a:solidFill>
                <a:latin typeface="Aptos"/>
              </a:rPr>
              <a:t>https://journals.sagepub.com/doi/10.1177/19322968231195081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111496"/>
            <a:ext cx="4251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5F7FA"/>
                </a:solidFill>
                <a:latin typeface="Aptos"/>
              </a:rPr>
              <a:t>International Consensus on CGM targets — Diabetes Care (2019)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5111496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6D6C5"/>
                </a:solidFill>
                <a:latin typeface="Aptos"/>
              </a:rPr>
              <a:t>https://diabetesjournals.org/care/article/42/8/1593/36184/Clinical-Targets-for-Continuous-Glucose-Monitoring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504688"/>
            <a:ext cx="4251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t>Interpretable glucose forecasting on ShanghaiT2DM (2026)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5504688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t>https://www.nature.com/articles/s41598-025-32373-4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6016752"/>
            <a:ext cx="10698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8C5D4"/>
                </a:solidFill>
                <a:latin typeface="Aptos"/>
              </a:rPr>
              <a:t>Research claims are paraphrased; see the accompanying research &amp; compliance pack for limitations and source notes.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395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0352" y="6519672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F92A8"/>
                </a:solidFill>
                <a:latin typeface="Aptos"/>
              </a:rPr>
              <a:t>GLUCOTWIN  •  DIGITAL TWIN CHALLENGE 2026  •  CONCEPT + EVIDENCE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0138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6D6C5"/>
                </a:solidFill>
                <a:latin typeface="Aptos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